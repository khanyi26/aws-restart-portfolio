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8774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692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270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9094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4578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052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044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5082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B61BEF0D-F0BB-DE4B-95CE-6DB70DBA9567}" type="datetimeFigureOut">
              <a:rPr lang="en-US" smtClean="0"/>
              <a:pPr/>
              <a:t>2/8/2026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1152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65826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1334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28600" y="771480"/>
            <a:ext cx="6379200" cy="296496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97247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ONE_COLUMN_TEXT_1">
    <p:bg>
      <p:bgPr>
        <a:solidFill>
          <a:schemeClr val="lt1"/>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228600" y="2567880"/>
            <a:ext cx="3374640" cy="196596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a:rPr>
              <a:t>Click to edit the title text format</a:t>
            </a:r>
          </a:p>
        </p:txBody>
      </p:sp>
      <p:sp>
        <p:nvSpPr>
          <p:cNvPr id="25" name="PlaceHolder 2"/>
          <p:cNvSpPr>
            <a:spLocks noGrp="1"/>
          </p:cNvSpPr>
          <p:nvPr>
            <p:ph type="body"/>
          </p:nvPr>
        </p:nvSpPr>
        <p:spPr>
          <a:xfrm rot="60000">
            <a:off x="3957840" y="627840"/>
            <a:ext cx="4852440" cy="2030400"/>
          </a:xfrm>
          <a:prstGeom prst="rect">
            <a:avLst/>
          </a:prstGeom>
          <a:noFill/>
          <a:ln w="0">
            <a:noFill/>
          </a:ln>
          <a:effectLst>
            <a:outerShdw blurRad="128520" dist="57017" dir="5161048" rotWithShape="0">
              <a:srgbClr val="000000">
                <a:alpha val="40000"/>
              </a:srgbClr>
            </a:outerShdw>
          </a:effectLst>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1862911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_ONLY">
    <p:bg>
      <p:bgPr>
        <a:solidFill>
          <a:schemeClr val="lt1"/>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229680" y="399240"/>
            <a:ext cx="868536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6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1528176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CUSTOM_2_1">
    <p:bg>
      <p:bgPr>
        <a:solidFill>
          <a:schemeClr val="dk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879613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7"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B61BEF0D-F0BB-DE4B-95CE-6DB70DBA9567}" type="datetimeFigureOut">
              <a:rPr lang="en-US" smtClean="0"/>
              <a:pPr/>
              <a:t>2/8/2026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D57F1E4F-1CFF-5643-939E-217C01CDF565}" type="slidenum">
              <a:rPr lang="en-US" smtClean="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56277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2"/>
          <p:cNvSpPr>
            <a:spLocks noGrp="1"/>
          </p:cNvSpPr>
          <p:nvPr>
            <p:ph type="body"/>
          </p:nvPr>
        </p:nvSpPr>
        <p:spPr>
          <a:xfrm>
            <a:off x="6124680" y="4191120"/>
            <a:ext cx="2790360" cy="723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600" b="0" u="none" strike="noStrike">
                <a:solidFill>
                  <a:schemeClr val="dk1"/>
                </a:solidFill>
                <a:effectLst/>
                <a:uFillTx/>
                <a:latin typeface="Roboto Mono"/>
                <a:ea typeface="Roboto Mono"/>
              </a:rPr>
              <a:t>Challenges Solutions</a:t>
            </a:r>
            <a:endParaRPr lang="en-US" sz="1600" b="0" u="none" strike="noStrike">
              <a:solidFill>
                <a:srgbClr val="FFFFFF"/>
              </a:solidFill>
              <a:effectLst/>
              <a:uFillTx/>
              <a:latin typeface="OpenSymbol"/>
            </a:endParaRPr>
          </a:p>
        </p:txBody>
      </p:sp>
      <p:sp>
        <p:nvSpPr>
          <p:cNvPr id="84" name="PlaceHolder 1"/>
          <p:cNvSpPr>
            <a:spLocks noGrp="1"/>
          </p:cNvSpPr>
          <p:nvPr>
            <p:ph type="title"/>
          </p:nvPr>
        </p:nvSpPr>
        <p:spPr>
          <a:xfrm>
            <a:off x="228600" y="771480"/>
            <a:ext cx="6381360" cy="2962080"/>
          </a:xfrm>
          <a:prstGeom prst="rect">
            <a:avLst/>
          </a:prstGeom>
          <a:noFill/>
          <a:ln w="0">
            <a:noFill/>
          </a:ln>
        </p:spPr>
        <p:txBody>
          <a:bodyPr lIns="91440" tIns="91440" rIns="91440" bIns="91440" anchor="b">
            <a:normAutofit/>
          </a:bodyPr>
          <a:lstStyle/>
          <a:p>
            <a:pPr indent="0">
              <a:lnSpc>
                <a:spcPct val="80000"/>
              </a:lnSpc>
              <a:buNone/>
              <a:tabLst>
                <a:tab pos="0" algn="l"/>
              </a:tabLst>
            </a:pPr>
            <a:r>
              <a:rPr lang="en-US" sz="7900" b="0" u="none" strike="noStrike">
                <a:solidFill>
                  <a:schemeClr val="dk1"/>
                </a:solidFill>
                <a:effectLst/>
                <a:uFillTx/>
                <a:latin typeface="Meow Script"/>
                <a:ea typeface="Xanh Mono"/>
              </a:rPr>
              <a:t>Cloud </a:t>
            </a:r>
            <a:r>
              <a:rPr lang="en-US" sz="5700" b="0" u="none" strike="noStrike">
                <a:solidFill>
                  <a:schemeClr val="dk1"/>
                </a:solidFill>
                <a:effectLst/>
                <a:uFillTx/>
                <a:latin typeface="Xanh Mono"/>
                <a:ea typeface="Xanh Mono"/>
              </a:rPr>
              <a:t>Migration </a:t>
            </a:r>
            <a:endParaRPr lang="fr-FR" sz="5700" b="0" u="none" strike="noStrike">
              <a:solidFill>
                <a:schemeClr val="dk1"/>
              </a:solidFill>
              <a:effectLst/>
              <a:uFillTx/>
              <a:latin typeface="Arial"/>
            </a:endParaRPr>
          </a:p>
        </p:txBody>
      </p:sp>
      <p:cxnSp>
        <p:nvCxnSpPr>
          <p:cNvPr id="87" name="Google Shape;160;p27"/>
          <p:cNvCxnSpPr/>
          <p:nvPr/>
        </p:nvCxnSpPr>
        <p:spPr>
          <a:xfrm flipH="1">
            <a:off x="229680" y="399240"/>
            <a:ext cx="8687880" cy="360"/>
          </a:xfrm>
          <a:prstGeom prst="straightConnector1">
            <a:avLst/>
          </a:prstGeom>
          <a:ln w="9525">
            <a:solidFill>
              <a:srgbClr val="FFFFFF"/>
            </a:solidFill>
            <a:round/>
          </a:ln>
        </p:spPr>
      </p:cxnSp>
      <p:sp>
        <p:nvSpPr>
          <p:cNvPr id="88" name="Google Shape;161;p27"/>
          <p:cNvSpPr/>
          <p:nvPr/>
        </p:nvSpPr>
        <p:spPr>
          <a:xfrm>
            <a:off x="716760" y="1626480"/>
            <a:ext cx="5268600" cy="1128960"/>
          </a:xfrm>
          <a:custGeom>
            <a:avLst/>
            <a:gdLst>
              <a:gd name="textAreaLeft" fmla="*/ 0 w 5268600"/>
              <a:gd name="textAreaRight" fmla="*/ 5268960 w 5268600"/>
              <a:gd name="textAreaTop" fmla="*/ 0 h 1128960"/>
              <a:gd name="textAreaBottom" fmla="*/ 1129320 h 1128960"/>
            </a:gdLst>
            <a:ahLst/>
            <a:cxnLst/>
            <a:rect l="textAreaLeft" t="textAreaTop" r="textAreaRight" b="textAreaBottom"/>
            <a:pathLst>
              <a:path w="210754" h="45168">
                <a:moveTo>
                  <a:pt x="159093" y="741"/>
                </a:moveTo>
                <a:cubicBezTo>
                  <a:pt x="137564" y="2100"/>
                  <a:pt x="55441" y="2265"/>
                  <a:pt x="29919" y="8892"/>
                </a:cubicBezTo>
                <a:cubicBezTo>
                  <a:pt x="4397" y="15520"/>
                  <a:pt x="-8322" y="34537"/>
                  <a:pt x="5962" y="40506"/>
                </a:cubicBezTo>
                <a:cubicBezTo>
                  <a:pt x="20246" y="46475"/>
                  <a:pt x="83392" y="45199"/>
                  <a:pt x="115624" y="44705"/>
                </a:cubicBezTo>
                <a:cubicBezTo>
                  <a:pt x="147856" y="44211"/>
                  <a:pt x="185686" y="43346"/>
                  <a:pt x="199352" y="37542"/>
                </a:cubicBezTo>
                <a:cubicBezTo>
                  <a:pt x="213019" y="31738"/>
                  <a:pt x="216641" y="16137"/>
                  <a:pt x="197623" y="9880"/>
                </a:cubicBezTo>
                <a:cubicBezTo>
                  <a:pt x="178605" y="3623"/>
                  <a:pt x="103974" y="1647"/>
                  <a:pt x="85244" y="0"/>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89" name="Google Shape;162;p27"/>
          <p:cNvSpPr/>
          <p:nvPr/>
        </p:nvSpPr>
        <p:spPr>
          <a:xfrm>
            <a:off x="5820840" y="4151880"/>
            <a:ext cx="305280" cy="703440"/>
          </a:xfrm>
          <a:custGeom>
            <a:avLst/>
            <a:gdLst>
              <a:gd name="textAreaLeft" fmla="*/ 0 w 305280"/>
              <a:gd name="textAreaRight" fmla="*/ 305640 w 305280"/>
              <a:gd name="textAreaTop" fmla="*/ 0 h 703440"/>
              <a:gd name="textAreaBottom" fmla="*/ 703800 h 703440"/>
            </a:gdLst>
            <a:ahLst/>
            <a:cxnLst/>
            <a:rect l="textAreaLeft" t="textAreaTop" r="textAreaRight" b="textAreaBottom"/>
            <a:pathLst>
              <a:path w="12222" h="28157">
                <a:moveTo>
                  <a:pt x="12222" y="0"/>
                </a:moveTo>
                <a:cubicBezTo>
                  <a:pt x="10187" y="2849"/>
                  <a:pt x="4706" y="3437"/>
                  <a:pt x="4319" y="6916"/>
                </a:cubicBezTo>
                <a:cubicBezTo>
                  <a:pt x="4008" y="9712"/>
                  <a:pt x="8541" y="12303"/>
                  <a:pt x="7283" y="14819"/>
                </a:cubicBezTo>
                <a:cubicBezTo>
                  <a:pt x="5920" y="17545"/>
                  <a:pt x="1483" y="17774"/>
                  <a:pt x="120" y="20500"/>
                </a:cubicBezTo>
                <a:cubicBezTo>
                  <a:pt x="-835" y="22410"/>
                  <a:pt x="5801" y="21328"/>
                  <a:pt x="5801" y="23464"/>
                </a:cubicBezTo>
                <a:cubicBezTo>
                  <a:pt x="5801" y="25920"/>
                  <a:pt x="897" y="25827"/>
                  <a:pt x="120" y="28157"/>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oogle Shape;248;p30"/>
          <p:cNvPicPr/>
          <p:nvPr/>
        </p:nvPicPr>
        <p:blipFill>
          <a:blip r:embed="rId2"/>
          <a:srcRect l="111" t="24914" r="-111" b="12298"/>
          <a:stretch/>
        </p:blipFill>
        <p:spPr>
          <a:xfrm rot="60000">
            <a:off x="3957840" y="627840"/>
            <a:ext cx="4852440" cy="2030400"/>
          </a:xfrm>
          <a:prstGeom prst="rect">
            <a:avLst/>
          </a:prstGeom>
          <a:noFill/>
          <a:ln w="0">
            <a:noFill/>
          </a:ln>
          <a:effectLst>
            <a:outerShdw blurRad="128520" dist="57017" dir="5161048" algn="bl" rotWithShape="0">
              <a:srgbClr val="000000">
                <a:alpha val="40000"/>
              </a:srgbClr>
            </a:outerShdw>
          </a:effectLst>
        </p:spPr>
      </p:pic>
      <p:sp>
        <p:nvSpPr>
          <p:cNvPr id="92" name="PlaceHolder 2"/>
          <p:cNvSpPr>
            <a:spLocks noGrp="1"/>
          </p:cNvSpPr>
          <p:nvPr>
            <p:ph type="body"/>
          </p:nvPr>
        </p:nvSpPr>
        <p:spPr>
          <a:xfrm>
            <a:off x="3666960" y="2781360"/>
            <a:ext cx="5248080" cy="2133360"/>
          </a:xfrm>
          <a:prstGeom prst="rect">
            <a:avLst/>
          </a:prstGeom>
          <a:noFill/>
          <a:ln w="0">
            <a:noFill/>
          </a:ln>
        </p:spPr>
        <p:txBody>
          <a:bodyPr lIns="91440" tIns="91440" rIns="91440" bIns="91440" anchor="b">
            <a:normAutofit/>
          </a:bodyPr>
          <a:lstStyle/>
          <a:p>
            <a:pPr>
              <a:lnSpc>
                <a:spcPct val="150000"/>
              </a:lnSpc>
              <a:tabLst>
                <a:tab pos="0" algn="l"/>
              </a:tabLst>
            </a:pPr>
            <a:r>
              <a:rPr lang="en-US" sz="1200" b="0" u="none" strike="noStrike">
                <a:solidFill>
                  <a:schemeClr val="dk1"/>
                </a:solidFill>
                <a:effectLst/>
                <a:uFillTx/>
                <a:latin typeface="Roboto Mono"/>
                <a:ea typeface="Roboto Mono"/>
              </a:rPr>
              <a:t>This presentation covers the major challenges faced by businesses relying on legacy on-premises systems, especially lack of digital presence and scalability issues. It explores key obstacles in cloud migration and proposes AWS cloud-based solutions as robust alternatives for modernizing infrastructure and enhancing customer reach effectively.</a:t>
            </a:r>
            <a:endParaRPr lang="en-US" sz="1200" b="0" u="none" strike="noStrike">
              <a:solidFill>
                <a:srgbClr val="FFFFFF"/>
              </a:solidFill>
              <a:effectLst/>
              <a:uFillTx/>
              <a:latin typeface="OpenSymbol"/>
            </a:endParaRPr>
          </a:p>
        </p:txBody>
      </p:sp>
      <p:sp>
        <p:nvSpPr>
          <p:cNvPr id="90" name="PlaceHolder 1"/>
          <p:cNvSpPr>
            <a:spLocks noGrp="1"/>
          </p:cNvSpPr>
          <p:nvPr>
            <p:ph type="title"/>
          </p:nvPr>
        </p:nvSpPr>
        <p:spPr>
          <a:xfrm>
            <a:off x="228600" y="2571840"/>
            <a:ext cx="3371400" cy="1961640"/>
          </a:xfrm>
          <a:prstGeom prst="rect">
            <a:avLst/>
          </a:prstGeom>
          <a:noFill/>
          <a:ln w="0">
            <a:noFill/>
          </a:ln>
        </p:spPr>
        <p:txBody>
          <a:bodyPr lIns="91440" tIns="91440" rIns="91440" bIns="91440" anchor="b">
            <a:normAutofit/>
          </a:bodyPr>
          <a:lstStyle/>
          <a:p>
            <a:pPr indent="0">
              <a:lnSpc>
                <a:spcPct val="80000"/>
              </a:lnSpc>
              <a:buNone/>
              <a:tabLst>
                <a:tab pos="0" algn="l"/>
              </a:tabLst>
            </a:pPr>
            <a:r>
              <a:rPr lang="en-US" sz="3900" b="0" u="none" strike="noStrike">
                <a:solidFill>
                  <a:schemeClr val="dk1"/>
                </a:solidFill>
                <a:effectLst/>
                <a:uFillTx/>
                <a:latin typeface="Meow Script"/>
                <a:ea typeface="Xanh Mono"/>
              </a:rPr>
              <a:t>Introduction </a:t>
            </a:r>
            <a:endParaRPr lang="fr-FR" sz="3900" b="0" u="none" strike="noStrike">
              <a:solidFill>
                <a:schemeClr val="dk1"/>
              </a:solidFill>
              <a:effectLst/>
              <a:uFillTx/>
              <a:latin typeface="Arial"/>
            </a:endParaRPr>
          </a:p>
        </p:txBody>
      </p:sp>
      <p:sp>
        <p:nvSpPr>
          <p:cNvPr id="93" name="Google Shape;250;p30"/>
          <p:cNvSpPr/>
          <p:nvPr/>
        </p:nvSpPr>
        <p:spPr>
          <a:xfrm>
            <a:off x="3864600" y="514800"/>
            <a:ext cx="246600" cy="197280"/>
          </a:xfrm>
          <a:custGeom>
            <a:avLst/>
            <a:gdLst>
              <a:gd name="textAreaLeft" fmla="*/ 0 w 246600"/>
              <a:gd name="textAreaRight" fmla="*/ 246960 w 246600"/>
              <a:gd name="textAreaTop" fmla="*/ 0 h 197280"/>
              <a:gd name="textAreaBottom" fmla="*/ 197640 h 197280"/>
            </a:gdLst>
            <a:ahLst/>
            <a:cxnLst/>
            <a:rect l="textAreaLeft" t="textAreaTop" r="textAreaRight" b="textAreaBottom"/>
            <a:pathLst>
              <a:path w="9879" h="7903">
                <a:moveTo>
                  <a:pt x="9879" y="494"/>
                </a:moveTo>
                <a:lnTo>
                  <a:pt x="988" y="0"/>
                </a:lnTo>
                <a:lnTo>
                  <a:pt x="0" y="7903"/>
                </a:ln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94" name="Google Shape;251;p30"/>
          <p:cNvSpPr/>
          <p:nvPr/>
        </p:nvSpPr>
        <p:spPr>
          <a:xfrm>
            <a:off x="3858480" y="2517480"/>
            <a:ext cx="277560" cy="265320"/>
          </a:xfrm>
          <a:custGeom>
            <a:avLst/>
            <a:gdLst>
              <a:gd name="textAreaLeft" fmla="*/ 0 w 277560"/>
              <a:gd name="textAreaRight" fmla="*/ 277920 w 277560"/>
              <a:gd name="textAreaTop" fmla="*/ 0 h 265320"/>
              <a:gd name="textAreaBottom" fmla="*/ 265680 h 265320"/>
            </a:gdLst>
            <a:ahLst/>
            <a:cxnLst/>
            <a:rect l="textAreaLeft" t="textAreaTop" r="textAreaRight" b="textAreaBottom"/>
            <a:pathLst>
              <a:path w="11114" h="10621">
                <a:moveTo>
                  <a:pt x="0" y="0"/>
                </a:moveTo>
                <a:lnTo>
                  <a:pt x="247" y="10621"/>
                </a:lnTo>
                <a:lnTo>
                  <a:pt x="11114" y="10621"/>
                </a:ln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95" name="Google Shape;252;p30"/>
          <p:cNvSpPr/>
          <p:nvPr/>
        </p:nvSpPr>
        <p:spPr>
          <a:xfrm>
            <a:off x="8724240" y="588960"/>
            <a:ext cx="191160" cy="271440"/>
          </a:xfrm>
          <a:custGeom>
            <a:avLst/>
            <a:gdLst>
              <a:gd name="textAreaLeft" fmla="*/ 0 w 191160"/>
              <a:gd name="textAreaRight" fmla="*/ 191520 w 191160"/>
              <a:gd name="textAreaTop" fmla="*/ 0 h 271440"/>
              <a:gd name="textAreaBottom" fmla="*/ 271800 h 271440"/>
            </a:gdLst>
            <a:ahLst/>
            <a:cxnLst/>
            <a:rect l="textAreaLeft" t="textAreaTop" r="textAreaRight" b="textAreaBottom"/>
            <a:pathLst>
              <a:path w="7656" h="10867">
                <a:moveTo>
                  <a:pt x="0" y="247"/>
                </a:moveTo>
                <a:lnTo>
                  <a:pt x="7656" y="0"/>
                </a:lnTo>
                <a:lnTo>
                  <a:pt x="7162" y="10867"/>
                </a:ln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96" name="Google Shape;253;p30"/>
          <p:cNvSpPr/>
          <p:nvPr/>
        </p:nvSpPr>
        <p:spPr>
          <a:xfrm>
            <a:off x="8606880" y="2628720"/>
            <a:ext cx="271440" cy="228240"/>
          </a:xfrm>
          <a:custGeom>
            <a:avLst/>
            <a:gdLst>
              <a:gd name="textAreaLeft" fmla="*/ 0 w 271440"/>
              <a:gd name="textAreaRight" fmla="*/ 271800 w 271440"/>
              <a:gd name="textAreaTop" fmla="*/ 0 h 228240"/>
              <a:gd name="textAreaBottom" fmla="*/ 228600 h 228240"/>
            </a:gdLst>
            <a:ahLst/>
            <a:cxnLst/>
            <a:rect l="textAreaLeft" t="textAreaTop" r="textAreaRight" b="textAreaBottom"/>
            <a:pathLst>
              <a:path w="10867" h="9138">
                <a:moveTo>
                  <a:pt x="0" y="8644"/>
                </a:moveTo>
                <a:lnTo>
                  <a:pt x="10867" y="9138"/>
                </a:lnTo>
                <a:lnTo>
                  <a:pt x="10867" y="0"/>
                </a:ln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97" name="Google Shape;254;p30"/>
          <p:cNvSpPr/>
          <p:nvPr/>
        </p:nvSpPr>
        <p:spPr>
          <a:xfrm>
            <a:off x="1643760" y="4456080"/>
            <a:ext cx="1722240" cy="24480"/>
          </a:xfrm>
          <a:custGeom>
            <a:avLst/>
            <a:gdLst>
              <a:gd name="textAreaLeft" fmla="*/ 0 w 1722240"/>
              <a:gd name="textAreaRight" fmla="*/ 1722600 w 1722240"/>
              <a:gd name="textAreaTop" fmla="*/ 0 h 24480"/>
              <a:gd name="textAreaBottom" fmla="*/ 24840 h 24480"/>
            </a:gdLst>
            <a:ahLst/>
            <a:cxnLst/>
            <a:rect l="textAreaLeft" t="textAreaTop" r="textAreaRight" b="textAreaBottom"/>
            <a:pathLst>
              <a:path w="68909" h="988">
                <a:moveTo>
                  <a:pt x="0" y="988"/>
                </a:moveTo>
                <a:cubicBezTo>
                  <a:pt x="11485" y="823"/>
                  <a:pt x="57424" y="165"/>
                  <a:pt x="68909" y="0"/>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20160" rIns="90000" bIns="-20160" anchor="t">
            <a:noAutofit/>
          </a:bodyPr>
          <a:lstStyle/>
          <a:p>
            <a:endParaRPr lang="en-US" sz="1800" b="0" u="none" strike="noStrike">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FFFFFF"/>
              </a:solidFill>
              <a:effectLst/>
              <a:uFillTx/>
              <a:latin typeface="OpenSymbol"/>
            </a:endParaRPr>
          </a:p>
        </p:txBody>
      </p:sp>
      <p:sp>
        <p:nvSpPr>
          <p:cNvPr id="99" name="Rectangle 98"/>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Meow Script"/>
              </a:rPr>
              <a:t>Cloud </a:t>
            </a:r>
            <a:r>
              <a:rPr lang="en-US" sz="4000" b="0" u="none" strike="noStrike">
                <a:solidFill>
                  <a:schemeClr val="dk1"/>
                </a:solidFill>
                <a:effectLst/>
                <a:uFillTx/>
                <a:latin typeface="Xanh Mono"/>
              </a:rPr>
              <a:t>Migration Challenges </a:t>
            </a:r>
            <a:endParaRPr lang="en-US" sz="4000" b="0" u="none" strike="noStrike">
              <a:solidFill>
                <a:srgbClr val="FFFFFF"/>
              </a:solidFill>
              <a:effectLst/>
              <a:uFillTx/>
              <a:latin typeface="OpenSymbol"/>
            </a:endParaRPr>
          </a:p>
        </p:txBody>
      </p:sp>
      <p:pic>
        <p:nvPicPr>
          <p:cNvPr id="100" name="image6988bafc3d91e" descr="image6988bafc3d923"/>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2"/>
          <p:cNvSpPr>
            <a:spLocks noGrp="1"/>
          </p:cNvSpPr>
          <p:nvPr>
            <p:ph type="body"/>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Roboto Mono"/>
                <a:ea typeface="Roboto Mono"/>
              </a:rPr>
              <a:t>Traditional on-premises systems often lack flexibility and scalability, hindering business growth. These setups require significant maintenance and pose integration challenges with modern tools. The resulting operational inefficiencies prevent timely adaptation to market demands and digital transformation needs.</a:t>
            </a:r>
            <a:endParaRPr lang="en-US" sz="1200" b="0" u="none" strike="noStrike">
              <a:solidFill>
                <a:srgbClr val="FFFFFF"/>
              </a:solidFill>
              <a:effectLst/>
              <a:uFillTx/>
              <a:latin typeface="OpenSymbol"/>
            </a:endParaRPr>
          </a:p>
        </p:txBody>
      </p:sp>
      <p:sp>
        <p:nvSpPr>
          <p:cNvPr id="101" name="PlaceHolder 1"/>
          <p:cNvSpPr>
            <a:spLocks noGrp="1"/>
          </p:cNvSpPr>
          <p:nvPr>
            <p:ph type="title"/>
          </p:nvPr>
        </p:nvSpPr>
        <p:spPr>
          <a:xfrm>
            <a:off x="228600" y="3067200"/>
            <a:ext cx="3400200" cy="18568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a:solidFill>
                  <a:schemeClr val="dk1"/>
                </a:solidFill>
                <a:effectLst/>
                <a:uFillTx/>
                <a:latin typeface="Meow Script"/>
                <a:ea typeface="Xanh Mono"/>
              </a:rPr>
              <a:t>Legacy </a:t>
            </a:r>
            <a:r>
              <a:rPr lang="en-US" sz="2600" b="0" u="none" strike="noStrike">
                <a:solidFill>
                  <a:schemeClr val="dk1"/>
                </a:solidFill>
                <a:effectLst/>
                <a:uFillTx/>
                <a:latin typeface="Xanh Mono"/>
                <a:ea typeface="Xanh Mono"/>
              </a:rPr>
              <a:t>On-Premises Limitations </a:t>
            </a:r>
            <a:endParaRPr lang="fr-FR" sz="2600" b="0" u="none" strike="noStrike">
              <a:solidFill>
                <a:schemeClr val="dk1"/>
              </a:solidFill>
              <a:effectLst/>
              <a:uFillTx/>
              <a:latin typeface="Arial"/>
            </a:endParaRPr>
          </a:p>
        </p:txBody>
      </p:sp>
      <p:sp>
        <p:nvSpPr>
          <p:cNvPr id="103"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10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900" b="0" u="none" strike="noStrike">
                <a:solidFill>
                  <a:schemeClr val="dk1"/>
                </a:solidFill>
                <a:effectLst/>
                <a:uFillTx/>
                <a:latin typeface="Meow Script"/>
              </a:rPr>
              <a:t>Lack </a:t>
            </a:r>
            <a:r>
              <a:rPr lang="en-US" sz="2600" b="0" u="none" strike="noStrike">
                <a:solidFill>
                  <a:schemeClr val="dk1"/>
                </a:solidFill>
                <a:effectLst/>
                <a:uFillTx/>
                <a:latin typeface="Xanh Mono"/>
              </a:rPr>
              <a:t>of Online </a:t>
            </a:r>
            <a:r>
              <a:rPr lang="en-US" sz="3900" b="0" u="none" strike="noStrike">
                <a:solidFill>
                  <a:schemeClr val="dk1"/>
                </a:solidFill>
                <a:effectLst/>
                <a:uFillTx/>
                <a:latin typeface="Meow Script"/>
              </a:rPr>
              <a:t>Presence </a:t>
            </a:r>
            <a:endParaRPr lang="en-US" sz="3900" b="0" u="none" strike="noStrike">
              <a:solidFill>
                <a:srgbClr val="FFFFFF"/>
              </a:solidFill>
              <a:effectLst/>
              <a:uFillTx/>
              <a:latin typeface="OpenSymbol"/>
            </a:endParaRPr>
          </a:p>
        </p:txBody>
      </p:sp>
      <p:sp>
        <p:nvSpPr>
          <p:cNvPr id="105" name="Rectangle 10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Roboto Mono"/>
              </a:rPr>
              <a:t>Many businesses remain offline or rely on outdated digital platforms, limiting customer interaction and sales opportunities. In todays digital economy, absence of an effective online presence constrains brand visibility and access to wider markets, impacting revenue and customer engagement negatively.</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ectangle 105"/>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3900" b="0" u="none" strike="noStrike">
                <a:solidFill>
                  <a:schemeClr val="dk1"/>
                </a:solidFill>
                <a:effectLst/>
                <a:uFillTx/>
                <a:latin typeface="Meow Script"/>
              </a:rPr>
              <a:t>Scalability </a:t>
            </a:r>
            <a:r>
              <a:rPr lang="en-US" sz="2600" b="0" u="none" strike="noStrike">
                <a:solidFill>
                  <a:schemeClr val="dk1"/>
                </a:solidFill>
                <a:effectLst/>
                <a:uFillTx/>
                <a:latin typeface="Xanh Mono"/>
              </a:rPr>
              <a:t>and Customer Reach </a:t>
            </a:r>
            <a:r>
              <a:rPr lang="en-US" sz="3900" b="0" u="none" strike="noStrike">
                <a:solidFill>
                  <a:schemeClr val="dk1"/>
                </a:solidFill>
                <a:effectLst/>
                <a:uFillTx/>
                <a:latin typeface="Meow Script"/>
              </a:rPr>
              <a:t>Issues </a:t>
            </a:r>
            <a:endParaRPr lang="en-US" sz="3900" b="0" u="none" strike="noStrike">
              <a:solidFill>
                <a:srgbClr val="FFFFFF"/>
              </a:solidFill>
              <a:effectLst/>
              <a:uFillTx/>
              <a:latin typeface="OpenSymbol"/>
            </a:endParaRPr>
          </a:p>
        </p:txBody>
      </p:sp>
      <p:sp>
        <p:nvSpPr>
          <p:cNvPr id="107" name="Rectangle 106"/>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Roboto Mono"/>
              </a:rPr>
              <a:t>Many legacy systems struggle to scale efficiently, leading to limitations in handling growing customer demands. This results in missed sales opportunities and difficulty reaching broader markets. Expanding infrastructure on-premises is costly and slow, restricting business agility and the ability to engage a wider, more diverse customer base effectively.</a:t>
            </a:r>
            <a:endParaRPr lang="en-US" sz="1200" b="0" u="none" strike="noStrike">
              <a:solidFill>
                <a:srgbClr val="FFFFFF"/>
              </a:solidFill>
              <a:effectLst/>
              <a:uFillTx/>
              <a:latin typeface="OpenSymbol"/>
            </a:endParaRPr>
          </a:p>
        </p:txBody>
      </p:sp>
      <p:pic>
        <p:nvPicPr>
          <p:cNvPr id="108" name="image6988bafc4f447" descr="image6988bafc4f44c"/>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p:cNvSpPr/>
          <p:nvPr/>
        </p:nvSpPr>
        <p:spPr>
          <a:xfrm>
            <a:off x="95256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FFFFFF"/>
              </a:solidFill>
              <a:effectLst/>
              <a:uFillTx/>
              <a:latin typeface="OpenSymbol"/>
            </a:endParaRPr>
          </a:p>
        </p:txBody>
      </p:sp>
      <p:sp>
        <p:nvSpPr>
          <p:cNvPr id="110" name="Rectangle 109"/>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Meow Script"/>
              </a:rPr>
              <a:t>AWS </a:t>
            </a:r>
            <a:r>
              <a:rPr lang="en-US" sz="4000" b="0" u="none" strike="noStrike">
                <a:solidFill>
                  <a:schemeClr val="dk1"/>
                </a:solidFill>
                <a:effectLst/>
                <a:uFillTx/>
                <a:latin typeface="Xanh Mono"/>
              </a:rPr>
              <a:t>Cloud-Based Solution </a:t>
            </a:r>
            <a:endParaRPr lang="en-US" sz="4000" b="0" u="none" strike="noStrike">
              <a:solidFill>
                <a:srgbClr val="FFFFFF"/>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2"/>
          <p:cNvSpPr>
            <a:spLocks noGrp="1"/>
          </p:cNvSpPr>
          <p:nvPr>
            <p:ph type="body"/>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Roboto Mono"/>
                <a:ea typeface="Roboto Mono"/>
              </a:rPr>
              <a:t>Amazon S3 offers cost-effective static website hosting with high availability and durability. It eliminates the need for managing physical servers, enabling quick deployment and seamless scalability. This solution enhances user experience with fast and reliable content delivery, supporting modern web standards and ease of maintenance.</a:t>
            </a:r>
            <a:endParaRPr lang="en-US" sz="1200" b="0" u="none" strike="noStrike">
              <a:solidFill>
                <a:srgbClr val="FFFFFF"/>
              </a:solidFill>
              <a:effectLst/>
              <a:uFillTx/>
              <a:latin typeface="OpenSymbol"/>
            </a:endParaRPr>
          </a:p>
        </p:txBody>
      </p:sp>
      <p:sp>
        <p:nvSpPr>
          <p:cNvPr id="111" name="PlaceHolder 1"/>
          <p:cNvSpPr>
            <a:spLocks noGrp="1"/>
          </p:cNvSpPr>
          <p:nvPr>
            <p:ph type="title"/>
          </p:nvPr>
        </p:nvSpPr>
        <p:spPr>
          <a:xfrm>
            <a:off x="228600" y="3067200"/>
            <a:ext cx="3400200" cy="18568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a:solidFill>
                  <a:schemeClr val="dk1"/>
                </a:solidFill>
                <a:effectLst/>
                <a:uFillTx/>
                <a:latin typeface="Meow Script"/>
                <a:ea typeface="Xanh Mono"/>
              </a:rPr>
              <a:t>Static </a:t>
            </a:r>
            <a:r>
              <a:rPr lang="en-US" sz="2600" b="0" u="none" strike="noStrike">
                <a:solidFill>
                  <a:schemeClr val="dk1"/>
                </a:solidFill>
                <a:effectLst/>
                <a:uFillTx/>
                <a:latin typeface="Xanh Mono"/>
                <a:ea typeface="Xanh Mono"/>
              </a:rPr>
              <a:t>Website Hosting with </a:t>
            </a:r>
            <a:r>
              <a:rPr lang="en-US" sz="3900" b="0" u="none" strike="noStrike">
                <a:solidFill>
                  <a:schemeClr val="dk1"/>
                </a:solidFill>
                <a:effectLst/>
                <a:uFillTx/>
                <a:latin typeface="Meow Script"/>
                <a:ea typeface="Xanh Mono"/>
              </a:rPr>
              <a:t>Amazon </a:t>
            </a:r>
            <a:r>
              <a:rPr lang="en-US" sz="2600" b="0" u="none" strike="noStrike">
                <a:solidFill>
                  <a:schemeClr val="dk1"/>
                </a:solidFill>
                <a:effectLst/>
                <a:uFillTx/>
                <a:latin typeface="Xanh Mono"/>
                <a:ea typeface="Xanh Mono"/>
              </a:rPr>
              <a:t>S3</a:t>
            </a:r>
            <a:endParaRPr lang="fr-FR" sz="2600" b="0" u="none" strike="noStrike">
              <a:solidFill>
                <a:schemeClr val="dk1"/>
              </a:solidFill>
              <a:effectLst/>
              <a:uFillTx/>
              <a:latin typeface="Arial"/>
            </a:endParaRPr>
          </a:p>
        </p:txBody>
      </p:sp>
      <p:sp>
        <p:nvSpPr>
          <p:cNvPr id="113"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3900" b="0" u="none" strike="noStrike">
                <a:solidFill>
                  <a:schemeClr val="dk1"/>
                </a:solidFill>
                <a:effectLst/>
                <a:uFillTx/>
                <a:latin typeface="Meow Script"/>
              </a:rPr>
              <a:t>Backend </a:t>
            </a:r>
            <a:r>
              <a:rPr lang="en-US" sz="2600" b="0" u="none" strike="noStrike">
                <a:solidFill>
                  <a:schemeClr val="dk1"/>
                </a:solidFill>
                <a:effectLst/>
                <a:uFillTx/>
                <a:latin typeface="Xanh Mono"/>
              </a:rPr>
              <a:t>Services and Data </a:t>
            </a:r>
            <a:r>
              <a:rPr lang="en-US" sz="3900" b="0" u="none" strike="noStrike">
                <a:solidFill>
                  <a:schemeClr val="dk1"/>
                </a:solidFill>
                <a:effectLst/>
                <a:uFillTx/>
                <a:latin typeface="Meow Script"/>
              </a:rPr>
              <a:t>Management </a:t>
            </a:r>
            <a:endParaRPr lang="en-US" sz="3900" b="0" u="none" strike="noStrike">
              <a:solidFill>
                <a:srgbClr val="FFFFFF"/>
              </a:solidFill>
              <a:effectLst/>
              <a:uFillTx/>
              <a:latin typeface="OpenSymbol"/>
            </a:endParaRPr>
          </a:p>
        </p:txBody>
      </p:sp>
      <p:sp>
        <p:nvSpPr>
          <p:cNvPr id="115" name="Rectangle 114"/>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Roboto Mono"/>
              </a:rPr>
              <a:t>AWS provides robust backend services like AWS Lambda and Amazon DynamoDB for serverless computing and scalable data storage. These tools simplify application logic handling and improve data access speed. The flexible architecture supports dynamic workloads and ensures efficient, reliable data management for improved business operations.</a:t>
            </a:r>
            <a:endParaRPr lang="en-US" sz="1200" b="0" u="none" strike="noStrike">
              <a:solidFill>
                <a:srgbClr val="FFFFFF"/>
              </a:solidFill>
              <a:effectLst/>
              <a:uFillTx/>
              <a:latin typeface="OpenSymbol"/>
            </a:endParaRPr>
          </a:p>
        </p:txBody>
      </p:sp>
      <p:pic>
        <p:nvPicPr>
          <p:cNvPr id="116" name="image6988bafc60a8e" descr="image6988bafc60a92"/>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Rectangle 116"/>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900" b="0" u="none" strike="noStrike">
                <a:solidFill>
                  <a:schemeClr val="dk1"/>
                </a:solidFill>
                <a:effectLst/>
                <a:uFillTx/>
                <a:latin typeface="Meow Script"/>
              </a:rPr>
              <a:t>Security </a:t>
            </a:r>
            <a:r>
              <a:rPr lang="en-US" sz="2600" b="0" u="none" strike="noStrike">
                <a:solidFill>
                  <a:schemeClr val="dk1"/>
                </a:solidFill>
                <a:effectLst/>
                <a:uFillTx/>
                <a:latin typeface="Xanh Mono"/>
              </a:rPr>
              <a:t>and Migration Tools </a:t>
            </a:r>
            <a:r>
              <a:rPr lang="en-US" sz="3900" b="0" u="none" strike="noStrike">
                <a:solidFill>
                  <a:schemeClr val="dk1"/>
                </a:solidFill>
                <a:effectLst/>
                <a:uFillTx/>
                <a:latin typeface="Meow Script"/>
              </a:rPr>
              <a:t>Integration </a:t>
            </a:r>
            <a:endParaRPr lang="en-US" sz="3900" b="0" u="none" strike="noStrike">
              <a:solidFill>
                <a:srgbClr val="FFFFFF"/>
              </a:solidFill>
              <a:effectLst/>
              <a:uFillTx/>
              <a:latin typeface="OpenSymbol"/>
            </a:endParaRPr>
          </a:p>
        </p:txBody>
      </p:sp>
      <p:sp>
        <p:nvSpPr>
          <p:cNvPr id="118" name="Rectangle 117"/>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Roboto Mono"/>
              </a:rPr>
              <a:t>AWS integrates comprehensive security features, including encryption, access control, and compliance certifications, ensuring secure cloud migration. Migration tools like AWS Migration Hub facilitate smooth transition from on-premises to cloud, minimizing downtime and operational risks while maintaining data integrity and system reliability throughout the process.</a:t>
            </a:r>
            <a:endParaRPr lang="en-US" sz="1200" b="0" u="none" strike="noStrike">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2"/>
          <p:cNvSpPr>
            <a:spLocks noGrp="1"/>
          </p:cNvSpPr>
          <p:nvPr>
            <p:ph type="body"/>
          </p:nvPr>
        </p:nvSpPr>
        <p:spPr>
          <a:xfrm>
            <a:off x="4133880" y="619200"/>
            <a:ext cx="4781160" cy="25808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Roboto Mono"/>
                <a:ea typeface="Roboto Mono"/>
              </a:rPr>
              <a:t>Migrating to AWS cloud offers solutions for legacy system limitations, improving scalability and customer reach. Leveraging Amazon S3 for hosting, robust backend services, and integrated security measures enables businesses to modernize effectively. This transformation streamlines operations, enhances digital presence, and positions companies for sustainable growth in the digital economy.</a:t>
            </a:r>
            <a:endParaRPr lang="en-US" sz="1200" b="0" u="none" strike="noStrike">
              <a:solidFill>
                <a:srgbClr val="FFFFFF"/>
              </a:solidFill>
              <a:effectLst/>
              <a:uFillTx/>
              <a:latin typeface="OpenSymbol"/>
            </a:endParaRPr>
          </a:p>
        </p:txBody>
      </p:sp>
      <p:sp>
        <p:nvSpPr>
          <p:cNvPr id="119" name="PlaceHolder 1"/>
          <p:cNvSpPr>
            <a:spLocks noGrp="1"/>
          </p:cNvSpPr>
          <p:nvPr>
            <p:ph type="title"/>
          </p:nvPr>
        </p:nvSpPr>
        <p:spPr>
          <a:xfrm>
            <a:off x="228600" y="3067200"/>
            <a:ext cx="3400200" cy="18568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0" u="none" strike="noStrike">
                <a:solidFill>
                  <a:schemeClr val="dk1"/>
                </a:solidFill>
                <a:effectLst/>
                <a:uFillTx/>
                <a:latin typeface="Meow Script"/>
                <a:ea typeface="Xanh Mono"/>
              </a:rPr>
              <a:t>Conclusions </a:t>
            </a:r>
            <a:endParaRPr lang="fr-FR" sz="3900" b="0" u="none" strike="noStrike">
              <a:solidFill>
                <a:schemeClr val="dk1"/>
              </a:solidFill>
              <a:effectLst/>
              <a:uFillTx/>
              <a:latin typeface="Arial"/>
            </a:endParaRPr>
          </a:p>
        </p:txBody>
      </p:sp>
      <p:sp>
        <p:nvSpPr>
          <p:cNvPr id="121" name="Google Shape;270;p32"/>
          <p:cNvSpPr/>
          <p:nvPr/>
        </p:nvSpPr>
        <p:spPr>
          <a:xfrm>
            <a:off x="6021720" y="3628080"/>
            <a:ext cx="3451320" cy="415800"/>
          </a:xfrm>
          <a:custGeom>
            <a:avLst/>
            <a:gdLst>
              <a:gd name="textAreaLeft" fmla="*/ 0 w 3451320"/>
              <a:gd name="textAreaRight" fmla="*/ 3451680 w 3451320"/>
              <a:gd name="textAreaTop" fmla="*/ 0 h 415800"/>
              <a:gd name="textAreaBottom" fmla="*/ 416160 h 415800"/>
            </a:gdLst>
            <a:ahLst/>
            <a:cxnLst/>
            <a:rect l="textAreaLeft" t="textAreaTop" r="textAreaRight" b="textAreaBottom"/>
            <a:pathLst>
              <a:path w="138066" h="16645">
                <a:moveTo>
                  <a:pt x="0" y="8716"/>
                </a:moveTo>
                <a:cubicBezTo>
                  <a:pt x="5022" y="7275"/>
                  <a:pt x="25563" y="-504"/>
                  <a:pt x="30132" y="72"/>
                </a:cubicBezTo>
                <a:cubicBezTo>
                  <a:pt x="34701" y="648"/>
                  <a:pt x="23341" y="11022"/>
                  <a:pt x="27416" y="12174"/>
                </a:cubicBezTo>
                <a:cubicBezTo>
                  <a:pt x="31491" y="13327"/>
                  <a:pt x="49439" y="6822"/>
                  <a:pt x="54584" y="6987"/>
                </a:cubicBezTo>
                <a:cubicBezTo>
                  <a:pt x="59730" y="7152"/>
                  <a:pt x="52361" y="12874"/>
                  <a:pt x="58289" y="13162"/>
                </a:cubicBezTo>
                <a:cubicBezTo>
                  <a:pt x="64217" y="13450"/>
                  <a:pt x="79324" y="8140"/>
                  <a:pt x="90150" y="8716"/>
                </a:cubicBezTo>
                <a:cubicBezTo>
                  <a:pt x="100976" y="9292"/>
                  <a:pt x="115260" y="16414"/>
                  <a:pt x="123246" y="16620"/>
                </a:cubicBezTo>
                <a:cubicBezTo>
                  <a:pt x="131232" y="16826"/>
                  <a:pt x="135596" y="11063"/>
                  <a:pt x="138066" y="9951"/>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Google Shape;380;p40"/>
          <p:cNvSpPr/>
          <p:nvPr/>
        </p:nvSpPr>
        <p:spPr>
          <a:xfrm>
            <a:off x="304920" y="4429080"/>
            <a:ext cx="3171600" cy="2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1000" b="0" u="none" strike="noStrike">
                <a:solidFill>
                  <a:schemeClr val="dk1"/>
                </a:solidFill>
                <a:effectLst/>
                <a:uFillTx/>
                <a:latin typeface="Arial"/>
              </a:rPr>
              <a:t>Please keep this slide for attribution</a:t>
            </a:r>
            <a:endParaRPr lang="en-US" sz="1000" b="0" u="none" strike="noStrike">
              <a:solidFill>
                <a:srgbClr val="FFFFFF"/>
              </a:solidFill>
              <a:effectLst/>
              <a:uFillTx/>
              <a:latin typeface="OpenSymbol"/>
            </a:endParaRPr>
          </a:p>
        </p:txBody>
      </p:sp>
      <p:sp>
        <p:nvSpPr>
          <p:cNvPr id="123" name="PlaceHolder 1"/>
          <p:cNvSpPr>
            <a:spLocks noGrp="1"/>
          </p:cNvSpPr>
          <p:nvPr>
            <p:ph type="title"/>
          </p:nvPr>
        </p:nvSpPr>
        <p:spPr>
          <a:xfrm>
            <a:off x="3619440" y="1143000"/>
            <a:ext cx="5285880" cy="239112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7500" b="0" u="none" strike="noStrike" dirty="0">
                <a:solidFill>
                  <a:schemeClr val="dk1"/>
                </a:solidFill>
                <a:effectLst/>
                <a:uFillTx/>
                <a:latin typeface="Xanh Mono"/>
                <a:ea typeface="Xanh Mono"/>
              </a:rPr>
              <a:t>T</a:t>
            </a:r>
            <a:r>
              <a:rPr lang="en" sz="5000" b="0" u="none" strike="noStrike" dirty="0">
                <a:solidFill>
                  <a:schemeClr val="dk1"/>
                </a:solidFill>
                <a:effectLst/>
                <a:uFillTx/>
                <a:latin typeface="Xanh Mono"/>
                <a:ea typeface="Xanh Mono"/>
              </a:rPr>
              <a:t>hanks for your </a:t>
            </a:r>
            <a:r>
              <a:rPr lang="en" sz="7500" b="0" u="none" strike="noStrike" dirty="0">
                <a:solidFill>
                  <a:schemeClr val="dk1"/>
                </a:solidFill>
                <a:effectLst/>
                <a:uFillTx/>
                <a:latin typeface="Xanh Mono"/>
                <a:ea typeface="Xanh Mono"/>
              </a:rPr>
              <a:t>a</a:t>
            </a:r>
            <a:r>
              <a:rPr lang="en" sz="5000" b="0" u="none" strike="noStrike" dirty="0">
                <a:solidFill>
                  <a:schemeClr val="dk1"/>
                </a:solidFill>
                <a:effectLst/>
                <a:uFillTx/>
                <a:latin typeface="Xanh Mono"/>
                <a:ea typeface="Xanh Mono"/>
              </a:rPr>
              <a:t>ttention</a:t>
            </a:r>
            <a:endParaRPr lang="fr-FR" sz="5000" b="0" u="none" strike="noStrike" dirty="0">
              <a:solidFill>
                <a:schemeClr val="dk1"/>
              </a:solidFill>
              <a:effectLst/>
              <a:uFillTx/>
              <a:latin typeface="Arial"/>
            </a:endParaRPr>
          </a:p>
        </p:txBody>
      </p:sp>
      <p:sp>
        <p:nvSpPr>
          <p:cNvPr id="138" name="Google Shape;396;p40"/>
          <p:cNvSpPr/>
          <p:nvPr/>
        </p:nvSpPr>
        <p:spPr>
          <a:xfrm>
            <a:off x="5011200" y="2157480"/>
            <a:ext cx="3655440" cy="1130040"/>
          </a:xfrm>
          <a:custGeom>
            <a:avLst/>
            <a:gdLst>
              <a:gd name="textAreaLeft" fmla="*/ 0 w 3655440"/>
              <a:gd name="textAreaRight" fmla="*/ 3655800 w 3655440"/>
              <a:gd name="textAreaTop" fmla="*/ 0 h 1130040"/>
              <a:gd name="textAreaBottom" fmla="*/ 1130400 h 1130040"/>
            </a:gdLst>
            <a:ahLst/>
            <a:cxnLst/>
            <a:rect l="textAreaLeft" t="textAreaTop" r="textAreaRight" b="textAreaBottom"/>
            <a:pathLst>
              <a:path w="146227" h="45221">
                <a:moveTo>
                  <a:pt x="6588" y="40483"/>
                </a:moveTo>
                <a:cubicBezTo>
                  <a:pt x="23754" y="40816"/>
                  <a:pt x="86805" y="43683"/>
                  <a:pt x="109582" y="42478"/>
                </a:cubicBezTo>
                <a:cubicBezTo>
                  <a:pt x="132359" y="41273"/>
                  <a:pt x="139217" y="39028"/>
                  <a:pt x="143249" y="33251"/>
                </a:cubicBezTo>
                <a:cubicBezTo>
                  <a:pt x="147281" y="27474"/>
                  <a:pt x="149526" y="13342"/>
                  <a:pt x="133773" y="7814"/>
                </a:cubicBezTo>
                <a:cubicBezTo>
                  <a:pt x="118020" y="2286"/>
                  <a:pt x="69847" y="-249"/>
                  <a:pt x="48733" y="83"/>
                </a:cubicBezTo>
                <a:cubicBezTo>
                  <a:pt x="27619" y="416"/>
                  <a:pt x="14818" y="3284"/>
                  <a:pt x="7087" y="9809"/>
                </a:cubicBezTo>
                <a:cubicBezTo>
                  <a:pt x="-644" y="16335"/>
                  <a:pt x="-1767" y="33334"/>
                  <a:pt x="2348" y="39236"/>
                </a:cubicBezTo>
                <a:cubicBezTo>
                  <a:pt x="6463" y="45138"/>
                  <a:pt x="26871" y="44224"/>
                  <a:pt x="31775" y="45221"/>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139" name="Google Shape;397;p40"/>
          <p:cNvSpPr/>
          <p:nvPr/>
        </p:nvSpPr>
        <p:spPr>
          <a:xfrm>
            <a:off x="228600" y="594360"/>
            <a:ext cx="701640" cy="636120"/>
          </a:xfrm>
          <a:custGeom>
            <a:avLst/>
            <a:gdLst>
              <a:gd name="textAreaLeft" fmla="*/ 0 w 701640"/>
              <a:gd name="textAreaRight" fmla="*/ 702000 w 701640"/>
              <a:gd name="textAreaTop" fmla="*/ 0 h 636120"/>
              <a:gd name="textAreaBottom" fmla="*/ 636480 h 636120"/>
            </a:gdLst>
            <a:ahLst/>
            <a:cxnLst/>
            <a:rect l="textAreaLeft" t="textAreaTop" r="textAreaRight" b="textAreaBottom"/>
            <a:pathLst>
              <a:path w="28084" h="25457">
                <a:moveTo>
                  <a:pt x="13777" y="12657"/>
                </a:moveTo>
                <a:cubicBezTo>
                  <a:pt x="11461" y="14742"/>
                  <a:pt x="9186" y="16879"/>
                  <a:pt x="7043" y="19141"/>
                </a:cubicBezTo>
                <a:cubicBezTo>
                  <a:pt x="5989" y="20254"/>
                  <a:pt x="2616" y="23171"/>
                  <a:pt x="4051" y="22633"/>
                </a:cubicBezTo>
                <a:cubicBezTo>
                  <a:pt x="10877" y="20074"/>
                  <a:pt x="12495" y="9630"/>
                  <a:pt x="19263" y="6922"/>
                </a:cubicBezTo>
                <a:cubicBezTo>
                  <a:pt x="22242" y="5730"/>
                  <a:pt x="15659" y="12255"/>
                  <a:pt x="13527" y="14653"/>
                </a:cubicBezTo>
                <a:cubicBezTo>
                  <a:pt x="12121" y="16234"/>
                  <a:pt x="10534" y="20637"/>
                  <a:pt x="9038" y="19141"/>
                </a:cubicBezTo>
                <a:cubicBezTo>
                  <a:pt x="5627" y="15730"/>
                  <a:pt x="8249" y="9492"/>
                  <a:pt x="8540" y="4677"/>
                </a:cubicBezTo>
                <a:cubicBezTo>
                  <a:pt x="8612" y="3489"/>
                  <a:pt x="9387" y="0"/>
                  <a:pt x="9288" y="1186"/>
                </a:cubicBezTo>
                <a:cubicBezTo>
                  <a:pt x="8990" y="4772"/>
                  <a:pt x="8633" y="8360"/>
                  <a:pt x="8041" y="11909"/>
                </a:cubicBezTo>
                <a:cubicBezTo>
                  <a:pt x="7845" y="13083"/>
                  <a:pt x="6107" y="15293"/>
                  <a:pt x="7293" y="15401"/>
                </a:cubicBezTo>
                <a:cubicBezTo>
                  <a:pt x="13526" y="15967"/>
                  <a:pt x="20496" y="5842"/>
                  <a:pt x="25248" y="9914"/>
                </a:cubicBezTo>
                <a:cubicBezTo>
                  <a:pt x="28974" y="13107"/>
                  <a:pt x="18236" y="17092"/>
                  <a:pt x="13777" y="19141"/>
                </a:cubicBezTo>
                <a:cubicBezTo>
                  <a:pt x="12033" y="19942"/>
                  <a:pt x="8795" y="22739"/>
                  <a:pt x="8290" y="20887"/>
                </a:cubicBezTo>
                <a:cubicBezTo>
                  <a:pt x="7349" y="17438"/>
                  <a:pt x="11158" y="13362"/>
                  <a:pt x="14525" y="12159"/>
                </a:cubicBezTo>
                <a:cubicBezTo>
                  <a:pt x="16199" y="11561"/>
                  <a:pt x="20147" y="9426"/>
                  <a:pt x="19762" y="11161"/>
                </a:cubicBezTo>
                <a:cubicBezTo>
                  <a:pt x="18746" y="15741"/>
                  <a:pt x="12003" y="16692"/>
                  <a:pt x="7542" y="18144"/>
                </a:cubicBezTo>
                <a:cubicBezTo>
                  <a:pt x="5171" y="18916"/>
                  <a:pt x="-427" y="20589"/>
                  <a:pt x="61" y="18144"/>
                </a:cubicBezTo>
                <a:cubicBezTo>
                  <a:pt x="273" y="17081"/>
                  <a:pt x="744" y="15614"/>
                  <a:pt x="1806" y="15401"/>
                </a:cubicBezTo>
                <a:cubicBezTo>
                  <a:pt x="5719" y="14616"/>
                  <a:pt x="5030" y="23785"/>
                  <a:pt x="8789" y="25127"/>
                </a:cubicBezTo>
                <a:cubicBezTo>
                  <a:pt x="10926" y="25890"/>
                  <a:pt x="13493" y="25144"/>
                  <a:pt x="15522" y="24129"/>
                </a:cubicBezTo>
                <a:cubicBezTo>
                  <a:pt x="16566" y="23607"/>
                  <a:pt x="19910" y="24627"/>
                  <a:pt x="19014" y="23880"/>
                </a:cubicBezTo>
                <a:cubicBezTo>
                  <a:pt x="17665" y="22755"/>
                  <a:pt x="15534" y="22409"/>
                  <a:pt x="16021" y="22134"/>
                </a:cubicBezTo>
                <a:cubicBezTo>
                  <a:pt x="20042" y="19861"/>
                  <a:pt x="27231" y="19707"/>
                  <a:pt x="27991" y="15151"/>
                </a:cubicBezTo>
                <a:cubicBezTo>
                  <a:pt x="29326" y="7146"/>
                  <a:pt x="11916" y="12408"/>
                  <a:pt x="3801" y="12408"/>
                </a:cubicBezTo>
              </a:path>
            </a:pathLst>
          </a:custGeom>
          <a:noFill/>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6</TotalTime>
  <Words>447</Words>
  <Application>Microsoft Office PowerPoint</Application>
  <PresentationFormat>On-screen Show (16:9)</PresentationFormat>
  <Paragraphs>24</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Calibri</vt:lpstr>
      <vt:lpstr>Gill Sans MT</vt:lpstr>
      <vt:lpstr>Meow Script</vt:lpstr>
      <vt:lpstr>OpenSymbol</vt:lpstr>
      <vt:lpstr>Roboto Mono</vt:lpstr>
      <vt:lpstr>Symbol</vt:lpstr>
      <vt:lpstr>Wingdings</vt:lpstr>
      <vt:lpstr>Xanh Mono</vt:lpstr>
      <vt:lpstr>Gallery</vt:lpstr>
      <vt:lpstr>Cloud Migration </vt:lpstr>
      <vt:lpstr>Introduction </vt:lpstr>
      <vt:lpstr>PowerPoint Presentation</vt:lpstr>
      <vt:lpstr>Legacy On-Premises Limitations </vt:lpstr>
      <vt:lpstr>PowerPoint Presentation</vt:lpstr>
      <vt:lpstr>PowerPoint Presentation</vt:lpstr>
      <vt:lpstr>PowerPoint Presentation</vt:lpstr>
      <vt:lpstr>Static Website Hosting with Amazon S3</vt:lpstr>
      <vt:lpstr>PowerPoint Presentation</vt:lpstr>
      <vt:lpstr>PowerPoint Presentation</vt:lpstr>
      <vt:lpstr>Conclusions </vt:lpstr>
      <vt:lpstr>Thanks for your attention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Migration</dc:title>
  <dc:creator>Michelle K.S Ndima</dc:creator>
  <cp:lastModifiedBy>MS KHANYISA SINNAH MICHELLE NDIMA</cp:lastModifiedBy>
  <cp:revision>1</cp:revision>
  <dcterms:modified xsi:type="dcterms:W3CDTF">2026-02-08T16:43:08Z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2026-02-08T16:33:56Z</dcterms:created>
  <dc:creator>Unknown Creator</dc:creator>
  <dc:description/>
  <dc:language>en-US</dc:language>
  <cp:lastModifiedBy>Unknown Creator</cp:lastModifiedBy>
  <dcterms:modified xsi:type="dcterms:W3CDTF">2026-02-08T16:33:56Z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